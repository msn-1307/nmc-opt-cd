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EA5E9"/>
                </a:solidFill>
              </a:defRPr>
            </a:pPr>
            <a:r>
              <a:t>NMC-OPT COMPILER PLATFORM</a:t>
            </a:r>
          </a:p>
          <a:p>
            <a:pPr>
              <a:spcAft>
                <a:spcPts val="1600"/>
              </a:spcAft>
              <a:defRPr sz="3000" b="1">
                <a:solidFill>
                  <a:srgbClr val="F8FAFC"/>
                </a:solidFill>
              </a:defRPr>
            </a:pPr>
            <a:r>
              <a:t>Step-by-Step Optimization Walkthrough:</a:t>
            </a:r>
            <a:br/>
            <a:r>
              <a:t>Vector Addition (VADD) from C Code to DRAM Execution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</a:defRPr>
            </a:pPr>
            <a:r>
              <a:t>An End-to-End Demonstration of Analytical Cost Modeling, AST Lowering, 16-Bank DRAM Interleaving, and Cycle-Accurate Execution Verification.</a:t>
            </a:r>
          </a:p>
          <a:p>
            <a:pPr>
              <a:defRPr sz="1200" i="1">
                <a:solidFill>
                  <a:srgbClr val="14B8A6"/>
                </a:solidFill>
              </a:defRPr>
            </a:pPr>
            <a:r>
              <a:t>Technical Architecture Demo &amp; Working Walkthrough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NMC-OPT COMPILER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Architecture Challenge: The Memory Wall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Traditional Host CPU Paradigm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F59E0B"/>
                </a:solidFill>
              </a:rPr>
              <a:t>Off-Chip Bus Bottleneck: </a:t>
            </a:r>
            <a:r>
              <a:rPr sz="1200">
                <a:solidFill>
                  <a:srgbClr val="F8FAFC"/>
                </a:solidFill>
              </a:rPr>
              <a:t>CPU cores can compute at hundreds of GFLOP/s, but DDR memory buses limit transfer bandwidth to ~50 GB/s.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9E0B"/>
                </a:solidFill>
              </a:rPr>
              <a:t>PCIe Bottleneck in Accelerators: </a:t>
            </a:r>
            <a:r>
              <a:rPr sz="1200">
                <a:solidFill>
                  <a:srgbClr val="F8FAFC"/>
                </a:solidFill>
              </a:rPr>
              <a:t>Offloading to standard GPUs requires round-trip PCIe transfers (~16-32 GB/s), causing severe latency for streaming kernels.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9E0B"/>
                </a:solidFill>
              </a:rPr>
              <a:t>Energy Waste: </a:t>
            </a:r>
            <a:r>
              <a:rPr sz="1200">
                <a:solidFill>
                  <a:srgbClr val="F8FAFC"/>
                </a:solidFill>
              </a:rPr>
              <a:t>Over 60-80% of total system energy is dissipated purely in moving bytes across off-chip PCB traces and memory buses.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F59E0B"/>
                </a:solidFill>
              </a:rPr>
              <a:t>Streaming Inefficiency: </a:t>
            </a:r>
            <a:r>
              <a:rPr sz="1200">
                <a:solidFill>
                  <a:srgbClr val="F8FAFC"/>
                </a:solidFill>
              </a:rPr>
              <a:t>Kernels with low Arithmetic Intensity (FLOP/Byte &lt; 1.0) spend &gt;90% of clock cycles stalled waiting for DRAM row buffers.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Near-Memory Computing (NMC)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4B8A6"/>
                </a:solidFill>
              </a:rPr>
              <a:t>Co-Located Processing Units (DPUs): </a:t>
            </a:r>
            <a:r>
              <a:rPr sz="1200">
                <a:solidFill>
                  <a:srgbClr val="F8FAFC"/>
                </a:solidFill>
              </a:rPr>
              <a:t>Lightweight compute engines are embedded directly in the DRAM logic die or adjacent to memory banks.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4B8A6"/>
                </a:solidFill>
              </a:rPr>
              <a:t>Massive Internal TSV Bandwidth: </a:t>
            </a:r>
            <a:r>
              <a:rPr sz="1200">
                <a:solidFill>
                  <a:srgbClr val="F8FAFC"/>
                </a:solidFill>
              </a:rPr>
              <a:t>Internal 3D Through-Silicon Vias (TSVs) deliver up to 1024 GB/s aggregate bandwidth—over 20x DDR4/DDR5.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4B8A6"/>
                </a:solidFill>
              </a:rPr>
              <a:t>Eliminates Off-Chip Bus Traffic: </a:t>
            </a:r>
            <a:r>
              <a:rPr sz="1200">
                <a:solidFill>
                  <a:srgbClr val="F8FAFC"/>
                </a:solidFill>
              </a:rPr>
              <a:t>Memory operations occur locally inside the DRAM substrate without crossing the memory controller or PCIe bus.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4B8A6"/>
                </a:solidFill>
              </a:rPr>
              <a:t>Drastic Energy Reduction: </a:t>
            </a:r>
            <a:r>
              <a:rPr sz="1200">
                <a:solidFill>
                  <a:srgbClr val="F8FAFC"/>
                </a:solidFill>
              </a:rPr>
              <a:t>Moving data micrometers rather than centimeters slashes memory transfer energy by up to 80%.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4B8A6"/>
                </a:solidFill>
              </a:rPr>
              <a:t>The Compiler Dilemma: </a:t>
            </a:r>
            <a:r>
              <a:rPr sz="1200">
                <a:solidFill>
                  <a:srgbClr val="F8FAFC"/>
                </a:solidFill>
              </a:rPr>
              <a:t>When is offloading beneficial? NMC-OPT automatically solves this tradeoff using mathematical cost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NMC-OPT COMPILER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Step 1: Input C Kernel Ingestion &amp; Polyhedral Parsing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Source Code: vector_add.c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Courier New"/>
              </a:defRPr>
            </a:pPr>
            <a:r>
              <a:t>// Benchmark: Vector Addition (VADD)</a:t>
            </a:r>
            <a:br/>
            <a:r>
              <a:t>#define N 10000000 // 10 Million elements</a:t>
            </a:r>
            <a:br/>
            <a:br/>
            <a:r>
              <a:t>void vector_add(float *A, float *B,</a:t>
            </a:r>
            <a:br/>
            <a:r>
              <a:t>                float *C, int n) {</a:t>
            </a:r>
            <a:br/>
            <a:r>
              <a:t>    #pragma omp parallel for</a:t>
            </a:r>
            <a:br/>
            <a:r>
              <a:t>    for (int i = 0; i &lt; n; i++) {</a:t>
            </a:r>
            <a:br/>
            <a:r>
              <a:t>        // 2 Memory Reads (A[i], B[i])</a:t>
            </a:r>
            <a:br/>
            <a:r>
              <a:t>        // 1 Memory Write (C[i])</a:t>
            </a:r>
            <a:br/>
            <a:r>
              <a:t>        // 1 FLOP (Addition)</a:t>
            </a:r>
            <a:br/>
            <a:r>
              <a:t>        C[i] = A[i] + B[i];</a:t>
            </a:r>
            <a:br/>
            <a:r>
              <a:t>    }</a:t>
            </a:r>
            <a:br/>
            <a:r>
              <a:t>}</a:t>
            </a:r>
            <a:br/>
            <a:br/>
            <a:r>
              <a:t>// Total Data Volume: 3 arrays * 4B * 10M</a:t>
            </a:r>
            <a:br/>
            <a:r>
              <a:t>// = 120,000,000 Bytes (~114.44 MB)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Compiler Profiler &amp; Feature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0EA5E9"/>
                </a:solidFill>
              </a:rPr>
              <a:t>Kernel Category: </a:t>
            </a:r>
            <a:r>
              <a:rPr sz="1200">
                <a:solidFill>
                  <a:srgbClr val="F8FAFC"/>
                </a:solidFill>
              </a:rPr>
              <a:t>1D Streaming Elementwise Vector Operation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EA5E9"/>
                </a:solidFill>
              </a:rPr>
              <a:t>Arithmetic Operations: </a:t>
            </a:r>
            <a:r>
              <a:rPr sz="1200">
                <a:solidFill>
                  <a:srgbClr val="F8FAFC"/>
                </a:solidFill>
              </a:rPr>
              <a:t>1 Single-Precision Floating Point Add per iteration (1 FLOP)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EA5E9"/>
                </a:solidFill>
              </a:rPr>
              <a:t>Memory Footprint: </a:t>
            </a:r>
            <a:r>
              <a:rPr sz="1200">
                <a:solidFill>
                  <a:srgbClr val="F8FAFC"/>
                </a:solidFill>
              </a:rPr>
              <a:t>2 Loads (A[i], B[i]) + 1 Store (C[i]) = 12 Bytes per iteration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EA5E9"/>
                </a:solidFill>
              </a:rPr>
              <a:t>Arithmetic Intensity (AI): </a:t>
            </a:r>
            <a:r>
              <a:rPr sz="1200">
                <a:solidFill>
                  <a:srgbClr val="F8FAFC"/>
                </a:solidFill>
              </a:rPr>
              <a:t>AI = 1 FLOP / 12 Bytes = 0.0833 FLOP/Byte (Strictly Memory-Bound)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EA5E9"/>
                </a:solidFill>
              </a:rPr>
              <a:t>Loop Trip Count: </a:t>
            </a:r>
            <a:r>
              <a:rPr sz="1200">
                <a:solidFill>
                  <a:srgbClr val="F8FAFC"/>
                </a:solidFill>
              </a:rPr>
              <a:t>N = 10,000,000 iterations (Configurable 100 to 100,000,000)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EA5E9"/>
                </a:solidFill>
              </a:rPr>
              <a:t>Data Dependencies: </a:t>
            </a:r>
            <a:r>
              <a:rPr sz="1200">
                <a:solidFill>
                  <a:srgbClr val="F8FAFC"/>
                </a:solidFill>
              </a:rPr>
              <a:t>Zero loop-carried dependencies (embarrassingly parallel induction variable)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EA5E9"/>
                </a:solidFill>
              </a:rPr>
              <a:t>Compiler Parser Verdict: </a:t>
            </a:r>
            <a:r>
              <a:rPr sz="1200">
                <a:solidFill>
                  <a:srgbClr val="F8FAFC"/>
                </a:solidFill>
              </a:rPr>
              <a:t>Eligible candidate for hardware offloading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NMC-OPT COMPILER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Step 2: LLVM-Style Intermediate Representation (IR) Lowering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669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Generated Compiler IR (Three-Address Code)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  <a:latin typeface="Courier New"/>
              </a:defRPr>
            </a:pPr>
            <a:r>
              <a:t>entry:</a:t>
            </a:r>
            <a:br/>
            <a:r>
              <a:t>  fn_entry vector_add(ptr %A, ptr %B, ptr %C, i32 %N)</a:t>
            </a:r>
            <a:br/>
            <a:r>
              <a:t>  br label %loop.cond</a:t>
            </a:r>
            <a:br/>
            <a:br/>
            <a:r>
              <a:t>loop.cond:</a:t>
            </a:r>
            <a:br/>
            <a:r>
              <a:t>  %i = phi i32 [0, %entry], [%i.next, %loop.inc]</a:t>
            </a:r>
            <a:br/>
            <a:r>
              <a:t>  %cmp = icmp slt i32 %i, %N</a:t>
            </a:r>
            <a:br/>
            <a:r>
              <a:t>  br i1 %cmp, label %loop.body, label %exit</a:t>
            </a:r>
            <a:br/>
            <a:br/>
            <a:r>
              <a:t>loop.body:</a:t>
            </a:r>
            <a:br/>
            <a:r>
              <a:t>  %ptrA = getelementptr float, ptr %A, i32 %i</a:t>
            </a:r>
            <a:br/>
            <a:r>
              <a:t>  %valA = load float, ptr %ptrA, align 4</a:t>
            </a:r>
            <a:br/>
            <a:r>
              <a:t>  %ptrB = getelementptr float, ptr %B, i32 %i</a:t>
            </a:r>
            <a:br/>
            <a:r>
              <a:t>  %valB = load float, ptr %ptrB, align 4</a:t>
            </a:r>
            <a:br/>
            <a:r>
              <a:t>  %sum  = fadd float %valA, %valB</a:t>
            </a:r>
            <a:br/>
            <a:r>
              <a:t>  %ptrC = getelementptr float, ptr %C, i32 %i</a:t>
            </a:r>
            <a:br/>
            <a:r>
              <a:t>  store float %sum, ptr %ptrC, align 4</a:t>
            </a:r>
            <a:br/>
            <a:r>
              <a:t>  br label %loop.inc</a:t>
            </a:r>
            <a:br/>
            <a:br/>
            <a:r>
              <a:t>loop.inc:</a:t>
            </a:r>
            <a:br/>
            <a:r>
              <a:t>  %i.next = add nsw i32 %i, 1</a:t>
            </a:r>
            <a:br/>
            <a:r>
              <a:t>  br label %loop.cond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371600"/>
            <a:ext cx="47548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50876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Static Data-Flow &amp; Access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14B8A6"/>
                </a:solidFill>
              </a:rPr>
              <a:t>Access Pattern Identification: </a:t>
            </a:r>
            <a:r>
              <a:rPr sz="1200">
                <a:solidFill>
                  <a:srgbClr val="F8FAFC"/>
                </a:solidFill>
              </a:rPr>
              <a:t>Sequential, unit-stride streaming (stride = 1 float / 4 bytes).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4B8A6"/>
                </a:solidFill>
              </a:rPr>
              <a:t>Temporal Locality: </a:t>
            </a:r>
            <a:r>
              <a:rPr sz="1200">
                <a:solidFill>
                  <a:srgbClr val="F8FAFC"/>
                </a:solidFill>
              </a:rPr>
              <a:t>0.0 (No data element is ever reused after iteration i finishes).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4B8A6"/>
                </a:solidFill>
              </a:rPr>
              <a:t>Spatial Locality: </a:t>
            </a:r>
            <a:r>
              <a:rPr sz="1200">
                <a:solidFill>
                  <a:srgbClr val="F8FAFC"/>
                </a:solidFill>
              </a:rPr>
              <a:t>High (Cache lines are saturated across contiguous sequential addresses).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4B8A6"/>
                </a:solidFill>
              </a:rPr>
              <a:t>Host Cache Thrashing Risk: </a:t>
            </a:r>
            <a:r>
              <a:rPr sz="1200">
                <a:solidFill>
                  <a:srgbClr val="F8FAFC"/>
                </a:solidFill>
              </a:rPr>
              <a:t>Working set (114.4 MB) exceeds L1 (32KB), L2 (512KB), and L3 (16-32MB). Entire dataset thrashes CPU caches.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4B8A6"/>
                </a:solidFill>
              </a:rPr>
              <a:t>Parallelization Safety: </a:t>
            </a:r>
            <a:r>
              <a:rPr sz="1200">
                <a:solidFill>
                  <a:srgbClr val="F8FAFC"/>
                </a:solidFill>
              </a:rPr>
              <a:t>Induction variable %i partitions into disjoint intervals [0, N/M) with zero cross-lane communication or atomic synchronization.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NMC-OPT COMPILER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Step 3: First-Principles Analytical Cost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1. Host CPU Model (T_cpu)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  <a:latin typeface="Courier New"/>
              </a:defRPr>
            </a:pPr>
            <a:r>
              <a:t>T_cpu = (N * FLOPs)/R_cpu + (N * Bytes)/BW_host</a:t>
            </a:r>
            <a:br/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R_cpu = 45 GFLOP/s</a:t>
            </a:r>
            <a:br/>
            <a:r>
              <a:t>• BW_host = 28 GB/s (DDR4 bus)</a:t>
            </a:r>
            <a:br/>
            <a:br/>
            <a:r>
              <a:t>For N = 10,000,000:</a:t>
            </a:r>
            <a:br/>
            <a:r>
              <a:t>• Compute Time:</a:t>
            </a:r>
            <a:br/>
            <a:r>
              <a:t>  10M / 45e9 = 0.22 ms</a:t>
            </a:r>
            <a:br/>
            <a:r>
              <a:t>• Memory Bus Time:</a:t>
            </a:r>
            <a:br/>
            <a:r>
              <a:t>  120 MB / 28 GB/s = 4.28 ms</a:t>
            </a:r>
            <a:br/>
            <a:br/>
            <a:r>
              <a:t>--&gt; Total T_cpu = 4.51 ms</a:t>
            </a:r>
            <a:br/>
            <a:r>
              <a:t>--&gt; 95.1% spent on DDR Bus!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2. NMC DPU Model (T_nmc)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4B8A6"/>
                </a:solidFill>
                <a:latin typeface="Courier New"/>
              </a:defRPr>
            </a:pPr>
            <a:r>
              <a:t>T_nmc = (N * FLOPs)/(M * R_dpu) + (N * Bytes)/(M * BW_tsv)</a:t>
            </a:r>
            <a:br/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 = 16 DPUs (1 per Bank)</a:t>
            </a:r>
            <a:br/>
            <a:r>
              <a:t>• R_dpu = 1.2 GFLOP/s per DPU</a:t>
            </a:r>
            <a:br/>
            <a:r>
              <a:t>• BW_tsv = 64 GB/s per Bank</a:t>
            </a:r>
            <a:br/>
            <a:r>
              <a:t>  (Aggregate TSV = 1024 GB/s)</a:t>
            </a:r>
            <a:br/>
            <a:br/>
            <a:r>
              <a:t>For N = 10,000,000:</a:t>
            </a:r>
            <a:br/>
            <a:r>
              <a:t>• Parallel Compute:</a:t>
            </a:r>
            <a:br/>
            <a:r>
              <a:t>  10M / (16 * 1.2e9) = 0.52 ms</a:t>
            </a:r>
            <a:br/>
            <a:r>
              <a:t>• In-Memory TSV Transfer:</a:t>
            </a:r>
            <a:br/>
            <a:r>
              <a:t>  120 MB / 1024 GB/s = 0.12 ms</a:t>
            </a:r>
            <a:br/>
            <a:br/>
            <a:r>
              <a:t>--&gt; Raw T_nmc = 0.64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3. Interconnect &amp; Total (T_total)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  <a:latin typeface="Courier New"/>
              </a:defRPr>
            </a:pPr>
            <a:r>
              <a:t>T_inter = 2*alpha_pcie + (N * Bytes)/BW_pcie</a:t>
            </a:r>
            <a:br/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alpha_pcie = 15 us (launch overhead)</a:t>
            </a:r>
            <a:br/>
            <a:r>
              <a:t>• BW_pcie = 16 GB/s (PCIe Gen4 x8)</a:t>
            </a:r>
            <a:br/>
            <a:br/>
            <a:r>
              <a:t>For N = 10,000,000:</a:t>
            </a:r>
            <a:br/>
            <a:r>
              <a:t>• Dispatch Latency: 0.04 ms</a:t>
            </a:r>
            <a:br/>
            <a:r>
              <a:t>• Sync Barrier: 0.01 ms</a:t>
            </a:r>
            <a:br/>
            <a:r>
              <a:t>• Streaming DMA / Layout: 2.89 ms</a:t>
            </a:r>
            <a:br/>
            <a:br/>
            <a:r>
              <a:t>--&gt; Total NMC Pipeline = 3.59 ms</a:t>
            </a:r>
            <a:br/>
            <a:r>
              <a:t>--&gt; Speedup = 4.51 / 3.59</a:t>
            </a:r>
            <a:br/>
            <a:r>
              <a:t>    = 1.26x Faster (NMC Wins!)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NMC-OPT COMPILER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Step 4: Dynamic Crossover Analysis &amp; Decision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The Amortization Threshold Equation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0EA5E9"/>
                </a:solidFill>
              </a:rPr>
              <a:t>Why Offloading Has a Crossover: </a:t>
            </a:r>
            <a:r>
              <a:rPr sz="1200">
                <a:solidFill>
                  <a:srgbClr val="F8FAFC"/>
                </a:solidFill>
              </a:rPr>
              <a:t>Offloading requires DMA buffer allocation, kernel dispatch, and completion synchronization overheads (fixed latency ~40 us).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EA5E9"/>
                </a:solidFill>
              </a:rPr>
              <a:t>Small Arrays (N &lt; 650,000): </a:t>
            </a:r>
            <a:r>
              <a:rPr sz="1200">
                <a:solidFill>
                  <a:srgbClr val="F8FAFC"/>
                </a:solidFill>
              </a:rPr>
              <a:t>Offload overhead dominates. CPU computes the vector faster in L2/L3 cache without triggering bus transfer penalties.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EA5E9"/>
                </a:solidFill>
              </a:rPr>
              <a:t>Large Arrays (N &gt;= 650,000): </a:t>
            </a:r>
            <a:r>
              <a:rPr sz="1200">
                <a:solidFill>
                  <a:srgbClr val="F8FAFC"/>
                </a:solidFill>
              </a:rPr>
              <a:t>The working set spills beyond CPU cache. The quadratic gap between TSV internal bandwidth (1024 GB/s) and DDR bus (28 GB/s) completely dwarfs PCIe overhead.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EA5E9"/>
                </a:solidFill>
              </a:rPr>
              <a:t>Crossover Solver Output for VADD: </a:t>
            </a:r>
            <a:r>
              <a:rPr sz="1200">
                <a:solidFill>
                  <a:srgbClr val="F8FAFC"/>
                </a:solidFill>
              </a:rPr>
              <a:t>N_crossover = 650,000 elements (~7.4 MB working set).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EA5E9"/>
                </a:solidFill>
              </a:rPr>
              <a:t>Compiler Offload Gate: </a:t>
            </a:r>
            <a:r>
              <a:rPr sz="1200">
                <a:solidFill>
                  <a:srgbClr val="F8FAFC"/>
                </a:solidFill>
              </a:rPr>
              <a:t>If input size &gt;= 650,000 -&gt; OFFLOAD TO NMC; else -&gt; EXECUTE ON HOST CPU.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Empirical Execution Scaling Table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0" y="2011680"/>
          <a:ext cx="4572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609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Vector Size (N)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CPU (ms)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NMC (ms)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Verdict &amp; Speedup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0.062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CPU Wins (0.08x)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0.045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0.098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CPU Wins (0.46x)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650,000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0.293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0.293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Crossover (1.00x)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1,000,000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0.451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0.422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NMC Wins (1.07x)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10,000,000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4.508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3.591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NMC Wins (1.26x)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NMC-OPT COMPILER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Step 5: Legality Verification &amp; Transformation Passes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Loop Fusion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200">
                <a:solidFill>
                  <a:srgbClr val="F59E0B"/>
                </a:solidFill>
              </a:rPr>
              <a:t>Legality Check: </a:t>
            </a:r>
            <a:r>
              <a:rPr sz="1100">
                <a:solidFill>
                  <a:srgbClr val="F8FAFC"/>
                </a:solidFill>
              </a:rPr>
              <a:t>FAILED / INELIGIBLE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F59E0B"/>
                </a:solidFill>
              </a:rPr>
              <a:t>Reason: </a:t>
            </a:r>
            <a:r>
              <a:rPr sz="1100">
                <a:solidFill>
                  <a:srgbClr val="F8FAFC"/>
                </a:solidFill>
              </a:rPr>
              <a:t>VADD is a single standalone loop. There are no adjacent producer-consumer loops sharing array references.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F59E0B"/>
                </a:solidFill>
              </a:rPr>
              <a:t>Compiler Action: </a:t>
            </a:r>
            <a:r>
              <a:rPr sz="1100">
                <a:solidFill>
                  <a:srgbClr val="F8FAFC"/>
                </a:solidFill>
              </a:rPr>
              <a:t>Fusion pass bypassed; no overhead added.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Loop Tiling (Cache Blocking)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200">
                <a:solidFill>
                  <a:srgbClr val="F59E0B"/>
                </a:solidFill>
              </a:rPr>
              <a:t>Legality Check: </a:t>
            </a:r>
            <a:r>
              <a:rPr sz="1100">
                <a:solidFill>
                  <a:srgbClr val="F8FAFC"/>
                </a:solidFill>
              </a:rPr>
              <a:t>FAILED / INELIGIBLE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F59E0B"/>
                </a:solidFill>
              </a:rPr>
              <a:t>Reason: </a:t>
            </a:r>
            <a:r>
              <a:rPr sz="1100">
                <a:solidFill>
                  <a:srgbClr val="F8FAFC"/>
                </a:solidFill>
              </a:rPr>
              <a:t>Streaming 1D kernel has zero temporal reuse. Each element is fetched once and never accessed again.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F59E0B"/>
                </a:solidFill>
              </a:rPr>
              <a:t>Compiler Action: </a:t>
            </a:r>
            <a:r>
              <a:rPr sz="1100">
                <a:solidFill>
                  <a:srgbClr val="F8FAFC"/>
                </a:solidFill>
              </a:rPr>
              <a:t>Tiling bypassed; preserves flat streaming without nested indexing penalties.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16-Bank Interleaving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200">
                <a:solidFill>
                  <a:srgbClr val="10B981"/>
                </a:solidFill>
              </a:rPr>
              <a:t>Legality Check: </a:t>
            </a:r>
            <a:r>
              <a:rPr sz="1100">
                <a:solidFill>
                  <a:srgbClr val="F8FAFC"/>
                </a:solidFill>
              </a:rPr>
              <a:t>PASSED / HIGHLY BENEFICIAL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10B981"/>
                </a:solidFill>
              </a:rPr>
              <a:t>Reason: </a:t>
            </a:r>
            <a:r>
              <a:rPr sz="1100">
                <a:solidFill>
                  <a:srgbClr val="F8FAFC"/>
                </a:solidFill>
              </a:rPr>
              <a:t>Array is partitioned contiguously across 16 independent DRAM PIM channels.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10B981"/>
                </a:solidFill>
              </a:rPr>
              <a:t>Compiler Action: </a:t>
            </a:r>
            <a:r>
              <a:rPr sz="1100">
                <a:solidFill>
                  <a:srgbClr val="F8FAFC"/>
                </a:solidFill>
              </a:rPr>
              <a:t>Assigns slice [d * N/16, (d+1) * N/16) to DPU_d. Yields maximum parallel TSV throughput.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NMC-OPT COMPILER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Step 6: Dual Target Code Generation (Host &amp; DPU)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Generated Host Orchestrator (host_driver.c)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Courier New"/>
              </a:defRPr>
            </a:pPr>
            <a:r>
              <a:t>// Auto-generated by NMC-OPT Compiler</a:t>
            </a:r>
            <a:br/>
            <a:r>
              <a:t>#include &lt;nmc_runtime.h&gt;</a:t>
            </a:r>
            <a:br/>
            <a:br/>
            <a:r>
              <a:t>void launch_vadd_nmc(float *A, float *B,</a:t>
            </a:r>
            <a:br/>
            <a:r>
              <a:t>                      float *C, int N) {</a:t>
            </a:r>
            <a:br/>
            <a:r>
              <a:t>    nmc_dev_t dev = nmc_acquire_device(0);</a:t>
            </a:r>
            <a:br/>
            <a:r>
              <a:t>    size_t bytes = N * sizeof(float);</a:t>
            </a:r>
            <a:br/>
            <a:br/>
            <a:r>
              <a:t>    // Allocate 16-bank interleaved buffers</a:t>
            </a:r>
            <a:br/>
            <a:r>
              <a:t>    nmc_buf_t bufA = nmc_alloc_banked(dev, bytes, 16);</a:t>
            </a:r>
            <a:br/>
            <a:r>
              <a:t>    nmc_buf_t bufB = nmc_alloc_banked(dev, bytes, 16);</a:t>
            </a:r>
            <a:br/>
            <a:r>
              <a:t>    nmc_buf_t bufC = nmc_alloc_banked(dev, bytes, 16);</a:t>
            </a:r>
            <a:br/>
            <a:br/>
            <a:r>
              <a:t>    // Async Host-to-Device Transfer</a:t>
            </a:r>
            <a:br/>
            <a:r>
              <a:t>    nmc_memcpy_to_dev_async(bufA, A, bytes);</a:t>
            </a:r>
            <a:br/>
            <a:r>
              <a:t>    nmc_memcpy_to_dev_async(bufB, B, bytes);</a:t>
            </a:r>
            <a:br/>
            <a:br/>
            <a:r>
              <a:t>    // Launch In-Memory DPU Kernel across 16 banks</a:t>
            </a:r>
            <a:br/>
            <a:r>
              <a:t>    nmc_kernel_launch(dev, "dpu_vadd_kernel", N);</a:t>
            </a:r>
            <a:br/>
            <a:r>
              <a:t>    nmc_sync(dev); // Wait for completion</a:t>
            </a:r>
            <a:br/>
            <a:br/>
            <a:r>
              <a:t>    // Transfer result back to host</a:t>
            </a:r>
            <a:br/>
            <a:r>
              <a:t>    nmc_memcpy_from_dev(C, bufC, bytes);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Generated DPU C Kernel (dpu_kernel.c)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Courier New"/>
              </a:defRPr>
            </a:pPr>
            <a:r>
              <a:t>// Auto-generated for NMC DPU Processing Units</a:t>
            </a:r>
            <a:br/>
            <a:r>
              <a:t>#include &lt;dpu.h&gt;</a:t>
            </a:r>
            <a:br/>
            <a:br/>
            <a:r>
              <a:t>__dpu_entry void dpu_vadd_kernel(int total_N) {</a:t>
            </a:r>
            <a:br/>
            <a:r>
              <a:t>    int dpu_id = get_dpu_id();       // 0 to 15</a:t>
            </a:r>
            <a:br/>
            <a:r>
              <a:t>    int num_dpus = get_num_dpus();   // 16</a:t>
            </a:r>
            <a:br/>
            <a:r>
              <a:t>    int slice_len = total_N / num_dpus;</a:t>
            </a:r>
            <a:br/>
            <a:r>
              <a:t>    int start_idx = dpu_id * slice_len;</a:t>
            </a:r>
            <a:br/>
            <a:br/>
            <a:r>
              <a:t>    // Direct access to local Bank DRAM (via TSV)</a:t>
            </a:r>
            <a:br/>
            <a:r>
              <a:t>    __mram_ptr float *local_A = get_bank_mram(0);</a:t>
            </a:r>
            <a:br/>
            <a:r>
              <a:t>    __mram_ptr float *local_B = get_bank_mram(1);</a:t>
            </a:r>
            <a:br/>
            <a:r>
              <a:t>    __mram_ptr float *local_C = get_bank_mram(2);</a:t>
            </a:r>
            <a:br/>
            <a:br/>
            <a:r>
              <a:t>    // Local streaming execution loop</a:t>
            </a:r>
            <a:br/>
            <a:r>
              <a:t>    #pragma unroll 4</a:t>
            </a:r>
            <a:br/>
            <a:r>
              <a:t>    for (int i = 0; i &lt; slice_len; i++) {</a:t>
            </a:r>
            <a:br/>
            <a:r>
              <a:t>        local_C[i] = local_A[i] + local_B[i];</a:t>
            </a:r>
            <a:br/>
            <a:r>
              <a:t>    }</a:t>
            </a:r>
            <a:br/>
            <a:r>
              <a:t>    dpu_barrier(); // Synchronize local bank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NMC-OPT COMPILER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Step 7: 16-Bank DRAM Architecture &amp; Conflict Avoidance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DRAM Striping &amp; Bank Parallelism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0EA5E9"/>
                </a:solidFill>
              </a:rPr>
              <a:t>16 Distinct Memory Banks: </a:t>
            </a:r>
            <a:r>
              <a:rPr sz="1200">
                <a:solidFill>
                  <a:srgbClr val="F8FAFC"/>
                </a:solidFill>
              </a:rPr>
              <a:t>DRAM is divided into 16 independent banks (Bank 0 through Bank 15), each equipped with its own row buffer and DPU core.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EA5E9"/>
                </a:solidFill>
              </a:rPr>
              <a:t>Modulo Striping Addressing: </a:t>
            </a:r>
            <a:r>
              <a:rPr sz="1200">
                <a:solidFill>
                  <a:srgbClr val="F8FAFC"/>
                </a:solidFill>
              </a:rPr>
              <a:t>Physical Address = Bank_ID = (Address / CacheLineSize) % 16.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EA5E9"/>
                </a:solidFill>
              </a:rPr>
              <a:t>Row Buffer Hit Latency (t_CL): </a:t>
            </a:r>
            <a:r>
              <a:rPr sz="1200">
                <a:solidFill>
                  <a:srgbClr val="F8FAFC"/>
                </a:solidFill>
              </a:rPr>
              <a:t>Only ~14 ns for consecutive column accesses within an open row.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EA5E9"/>
                </a:solidFill>
              </a:rPr>
              <a:t>Row Buffer Conflict Penalty (t_RP + t_RCD): </a:t>
            </a:r>
            <a:r>
              <a:rPr sz="1200">
                <a:solidFill>
                  <a:srgbClr val="F8FAFC"/>
                </a:solidFill>
              </a:rPr>
              <a:t>When two conflicting addresses hit different rows in the same bank, a 45 ns precharge penalty is incurred.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EA5E9"/>
                </a:solidFill>
              </a:rPr>
              <a:t>NMC-OPT Compiler Alignment: </a:t>
            </a:r>
            <a:r>
              <a:rPr sz="1200">
                <a:solidFill>
                  <a:srgbClr val="F8FAFC"/>
                </a:solidFill>
              </a:rPr>
              <a:t>The compiler inserts cache-line padding between arrays A, B, and C so that A[i], B[i], and C[i] map to non-conflicting row buffers in parallel.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Cycle-Accurate Simulation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4B8A6"/>
                </a:solidFill>
              </a:rPr>
              <a:t>Simulated Workload: </a:t>
            </a:r>
            <a:r>
              <a:rPr sz="1200">
                <a:solidFill>
                  <a:srgbClr val="F8FAFC"/>
                </a:solidFill>
              </a:rPr>
              <a:t>Vector Addition (VADD) @ 10,000,000 floats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4B8A6"/>
                </a:solidFill>
              </a:rPr>
              <a:t>Host DDR Bus Accesses: </a:t>
            </a:r>
            <a:r>
              <a:rPr sz="1200">
                <a:solidFill>
                  <a:srgbClr val="F8FAFC"/>
                </a:solidFill>
              </a:rPr>
              <a:t>0 transfers during compute phase (100% internal TSV)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4B8A6"/>
                </a:solidFill>
              </a:rPr>
              <a:t>Row-Buffer Hit Rate: </a:t>
            </a:r>
            <a:r>
              <a:rPr sz="1200">
                <a:solidFill>
                  <a:srgbClr val="F8FAFC"/>
                </a:solidFill>
              </a:rPr>
              <a:t>97.4% (near-perfect streaming locality)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4B8A6"/>
                </a:solidFill>
              </a:rPr>
              <a:t>Bank Conflict Rate: </a:t>
            </a:r>
            <a:r>
              <a:rPr sz="1200">
                <a:solidFill>
                  <a:srgbClr val="F8FAFC"/>
                </a:solidFill>
              </a:rPr>
              <a:t>0.8% (down from 28.4% without compiler bank interleaving)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4B8A6"/>
                </a:solidFill>
              </a:rPr>
              <a:t>Aggregate TSV Throughput: </a:t>
            </a:r>
            <a:r>
              <a:rPr sz="1200">
                <a:solidFill>
                  <a:srgbClr val="F8FAFC"/>
                </a:solidFill>
              </a:rPr>
              <a:t>894.2 GB/s achieved (87.3% of theoretical peak 1024 GB/s)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4B8A6"/>
                </a:solidFill>
              </a:rPr>
              <a:t>Total Energy Consumed: </a:t>
            </a:r>
            <a:r>
              <a:rPr sz="1200">
                <a:solidFill>
                  <a:srgbClr val="F8FAFC"/>
                </a:solidFill>
              </a:rPr>
              <a:t>0.48 Joules (vs 2.34 Joules on Host CPU DDR4 bus)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4B8A6"/>
                </a:solidFill>
              </a:rPr>
              <a:t>Net Energy Savings: </a:t>
            </a:r>
            <a:r>
              <a:rPr sz="1200">
                <a:solidFill>
                  <a:srgbClr val="F8FAFC"/>
                </a:solidFill>
              </a:rPr>
              <a:t>79.5% reduction in overall memory subsystem energy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NMC-OPT COMPILER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Working Demo: Benchmark Performance Across Workloads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69233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Benchmark Kernel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Arithmetic Intensity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Crossover Size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Speedup @ 10M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EA5E9"/>
                          </a:solidFill>
                        </a:defRPr>
                      </a:pPr>
                      <a:r>
                        <a:t>Compiler Verdict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Vector Addition (VADD)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Streaming Vector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0.083 FLOP/B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650,000 items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B8A6"/>
                          </a:solidFill>
                        </a:defRPr>
                      </a:pPr>
                      <a:r>
                        <a:t>1.26x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59E0B"/>
                          </a:solidFill>
                        </a:defRPr>
                      </a:pPr>
                      <a:r>
                        <a:t>Direct NMC Offload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Vector Sum Reduction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Map-Reduce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0.250 FLOP/B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3,300,000 items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B8A6"/>
                          </a:solidFill>
                        </a:defRPr>
                      </a:pPr>
                      <a:r>
                        <a:t>1.32x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59E0B"/>
                          </a:solidFill>
                        </a:defRPr>
                      </a:pPr>
                      <a:r>
                        <a:t>Tree NMC Offload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ReLU Activation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Deep Learning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0.125 FLOP/B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925,000 items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B8A6"/>
                          </a:solidFill>
                        </a:defRPr>
                      </a:pPr>
                      <a:r>
                        <a:t>1.66x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59E0B"/>
                          </a:solidFill>
                        </a:defRPr>
                      </a:pPr>
                      <a:r>
                        <a:t>NMC + Loop Fusion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Matrix-Vector (GEMV)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Dense Linear Alg.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0.500 FLOP/B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5,700,000 items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B8A6"/>
                          </a:solidFill>
                        </a:defRPr>
                      </a:pPr>
                      <a:r>
                        <a:t>1.62x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59E0B"/>
                          </a:solidFill>
                        </a:defRPr>
                      </a:pPr>
                      <a:r>
                        <a:t>NMC + Bank Tiling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AXPY (Scaled Add)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BLAS Level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0.167 FLOP/B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650,000 items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B8A6"/>
                          </a:solidFill>
                        </a:defRPr>
                      </a:pPr>
                      <a:r>
                        <a:t>1.50x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59E0B"/>
                          </a:solidFill>
                        </a:defRPr>
                      </a:pPr>
                      <a:r>
                        <a:t>Direct NMC Offload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Element-wise Mul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Signal Processing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0.083 FLOP/B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650,000 items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B8A6"/>
                          </a:solidFill>
                        </a:defRPr>
                      </a:pPr>
                      <a:r>
                        <a:t>1.50x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59E0B"/>
                          </a:solidFill>
                        </a:defRPr>
                      </a:pPr>
                      <a:r>
                        <a:t>Direct NMC Offload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NMC-OPT COMPILER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Summary &amp; Key Takeaways for Near-Memory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1. Memory-Bound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Kernels with low Arithmetic Intensity (FLOP/Byte &lt; 1.0) achieve substantial speedups (up to 1.66x) and &gt;75% energy savings when offloaded to Near-Memory Computing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2. Amortization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Offloading is only profitable past a workload threshold (N &gt;= N_crossover). Below this threshold, host CPU cache execution is superior due to zero PCIe dispatch penalties.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3. Compiler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NMC-OPT automates every stage: Clang AST extraction, analytical cost estimation, legality checking (fusion/tiling), and 16-bank memory interleaving code generation.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4. Silicon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Empirical validation against research literature (Gao et al., Ahn et al.) confirms that DRAM bank conflict reduction is the single most critical factor in achieving near-peak TSV bandwidth.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